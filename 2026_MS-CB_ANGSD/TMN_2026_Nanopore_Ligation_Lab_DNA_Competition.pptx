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85" r:id="rId2"/>
    <p:sldId id="415" r:id="rId3"/>
    <p:sldId id="524" r:id="rId4"/>
    <p:sldId id="39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3AE8E4-E737-E747-9721-941CFAC9B37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FF8E8-9FAA-664D-98E2-7A92F82E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218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2719E8C-7979-231C-6915-427290882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97CFAC0-2485-29DD-CED2-E1B8181A8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2C0A6B2-F919-7FBB-34C5-7A045C72B6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original title: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Studying the Effect of Traffic-Related Air Pollution on Neurodevelopment with Nanopore Direct-RNA Sequencing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6200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63ED1B7-1BDF-8BAC-8C2D-D67261D89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535503C-D005-6DB1-96E7-F090CC482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A469ED7-123F-92D5-57DF-B3A55608CC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2292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5F81573-827A-AA8A-51C3-BEB40FAF6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0A18AA9-E407-D716-A912-55F172F7E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F2B4D5D-5132-86C6-60D3-A64D61F45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5099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A720-2137-3B8D-94A6-E8AE5E9C4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BE0A3-4BBC-B1C2-5C7E-8FE671464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B51B3-C0F2-D8F9-C3DA-4EEE62A3B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46884-8935-7A4B-FF44-F5B12AD55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8FD42-628B-0946-81FE-1899C0A525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B650-F3EF-CE71-9DB1-0F907EB79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2C5D3-08A3-027C-BCEF-6239D1B53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02075-F6DD-2854-7C76-F3E4D5B4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B6311-38E2-B0F1-316D-E1F241B4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CE49C-E783-5C0F-D741-C58E0444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0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ABECB-322B-B97E-5A54-5F714718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4FDB9-CAD8-215F-8EB6-8359D17BB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3C868-A115-E0B6-6968-9C0751D7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21000-3B7C-6160-80C7-141F6D6A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4AF70-03B7-54E7-FF75-BCC3123B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5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CEEA8-34B0-2A6B-F075-37E5A8E5D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6BEDF-505E-A1B2-C29B-364E8BCA1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DE981-57A6-BEF7-E894-DFC62D66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FD392-0DC3-C442-1CBC-01A06A18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65DAE-57C9-60CC-B09E-45612781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2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54263-FB59-83EA-3302-9E34D756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3AB70-A9FF-EECD-F773-9F58C4686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62AED-B75C-4FBF-DC37-FA5D6ABC3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D641E-04AA-7469-3C5A-BE7B7DAB9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6A64C-E4FF-2793-EBD1-0157F00CF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4B5B6-B426-D088-16AD-5FED82BDC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8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85C1-4C96-03AA-2297-CABE7DA1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8F51E-D880-5213-1355-932BE8C26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DD8A1-CB2E-8E5E-D453-B6B7B09BC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6F39C-0BA5-7D3E-E409-CC13D3278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8BF01-8A76-327E-C73C-944FDE491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0E6321-CAE3-8718-C73C-07694F3DD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9B1B48-16A7-7593-475A-91780CA8B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53371-5B2C-6E03-939F-9F4C6AB9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63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468A-816E-AFB5-18EA-5A4DF3EF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881F6E-00D6-C0DF-B800-1DFE0F68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0D52CA-F0EE-1015-4387-170BA9989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DEBFB2-ABEC-3EB0-3A0C-36BC48AF0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43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1F8EA-1957-EFD6-238A-F00CD7F4B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1CB297-37ED-34F6-A5FD-0258013E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E82E3-7B65-2C39-217C-C26C7E88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2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2BDF2-2575-DF43-6C03-BABAE07B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734CB-FB3A-53E9-8D89-60962788F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D7931-3F9C-EB7F-8F66-47AB35FBC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1634E-256C-92C1-571B-45BD4B8C8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C1CCE-5616-F0FB-6459-D461DE57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9E150-AB17-C8B9-B27C-E2419713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1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6A803-DF08-70DC-F2F5-AF606A17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61B11-E652-63C3-79FF-E4969577AC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129EAB-0078-D0D8-A674-BC929B213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9E3A7-802C-519F-B934-06FCE4457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E7317-EFA9-E88E-DAC8-AA0E2071E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2366A-4478-1A44-0691-FBD51176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5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B2CD8-753E-3FE2-309A-3AA79AD7A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A7497-0736-9669-2559-E1A695BF4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83247-9062-D27B-FF0E-EE179D71D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1CA84-5842-8272-6E54-5355F5EBD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045C2-347B-B19D-A5E5-8CA334A8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27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1E428E-9C37-C2CC-D30B-EB6FA7EBC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DE607-6D51-6234-5F86-0C53819C7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AB7C4-5CEF-C32D-130D-5428A4D8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A353D-5E44-41AE-B1BD-EC189029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071C4-661E-B9B0-84E3-A7B588EF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4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45A0D-3DD2-CA08-91EB-3F1023530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367FE-D9E7-062F-5903-5234B634A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7E3E9-217D-D99F-8B4C-F58E4FFD1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C563E-B5A9-454F-8AAB-61A339F3F76C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5D62A-C8B7-A7C8-F749-558B25E0D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65B13-7483-BBAA-E680-A49D329BD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C4549-9AC5-9A4B-AE1B-E281769C4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3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C9ABF10-6831-7DB9-C2E9-8D4078C0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4E03F-EB24-033E-1C43-597B5262C302}"/>
              </a:ext>
            </a:extLst>
          </p:cNvPr>
          <p:cNvSpPr txBox="1">
            <a:spLocks/>
          </p:cNvSpPr>
          <p:nvPr/>
        </p:nvSpPr>
        <p:spPr>
          <a:xfrm>
            <a:off x="-3048" y="45230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Nanopore Sequencing Lab Demo</a:t>
            </a:r>
            <a:endParaRPr lang="en-US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04D960-DE69-E1D3-F976-A172BD7F4399}"/>
              </a:ext>
            </a:extLst>
          </p:cNvPr>
          <p:cNvCxnSpPr/>
          <p:nvPr/>
        </p:nvCxnSpPr>
        <p:spPr>
          <a:xfrm>
            <a:off x="1836465" y="2011729"/>
            <a:ext cx="8519069" cy="0"/>
          </a:xfrm>
          <a:prstGeom prst="line">
            <a:avLst/>
          </a:prstGeom>
          <a:ln w="38100">
            <a:solidFill>
              <a:srgbClr val="EA7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B5EFC6-1A73-5541-BC02-AE862D3E86C9}"/>
              </a:ext>
            </a:extLst>
          </p:cNvPr>
          <p:cNvCxnSpPr/>
          <p:nvPr/>
        </p:nvCxnSpPr>
        <p:spPr>
          <a:xfrm>
            <a:off x="1836465" y="2110426"/>
            <a:ext cx="8519069" cy="0"/>
          </a:xfrm>
          <a:prstGeom prst="line">
            <a:avLst/>
          </a:prstGeom>
          <a:ln w="38100">
            <a:solidFill>
              <a:srgbClr val="EA7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Google Shape;77;p15">
            <a:extLst>
              <a:ext uri="{FF2B5EF4-FFF2-40B4-BE49-F238E27FC236}">
                <a16:creationId xmlns:a16="http://schemas.microsoft.com/office/drawing/2014/main" id="{128A0AAD-B820-A001-BE90-797DF8325857}"/>
              </a:ext>
            </a:extLst>
          </p:cNvPr>
          <p:cNvSpPr txBox="1"/>
          <p:nvPr/>
        </p:nvSpPr>
        <p:spPr>
          <a:xfrm>
            <a:off x="6768639" y="2209123"/>
            <a:ext cx="3981137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 dirty="0">
                <a:solidFill>
                  <a:schemeClr val="dk1"/>
                </a:solidFill>
              </a:rPr>
              <a:t>Theodore M. Nelson</a:t>
            </a:r>
            <a:endParaRPr sz="4400" dirty="0">
              <a:solidFill>
                <a:schemeClr val="dk2"/>
              </a:solidFill>
            </a:endParaRPr>
          </a:p>
        </p:txBody>
      </p:sp>
      <p:sp>
        <p:nvSpPr>
          <p:cNvPr id="11" name="Google Shape;77;p15">
            <a:extLst>
              <a:ext uri="{FF2B5EF4-FFF2-40B4-BE49-F238E27FC236}">
                <a16:creationId xmlns:a16="http://schemas.microsoft.com/office/drawing/2014/main" id="{E7EBB646-0760-466F-BB8C-B0B34D2E11B9}"/>
              </a:ext>
            </a:extLst>
          </p:cNvPr>
          <p:cNvSpPr txBox="1"/>
          <p:nvPr/>
        </p:nvSpPr>
        <p:spPr>
          <a:xfrm>
            <a:off x="6768639" y="2836402"/>
            <a:ext cx="3373845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2800" dirty="0">
                <a:solidFill>
                  <a:schemeClr val="dk1"/>
                </a:solidFill>
              </a:rPr>
              <a:t>Mason Lab</a:t>
            </a:r>
            <a:endParaRPr sz="4400" dirty="0">
              <a:solidFill>
                <a:schemeClr val="dk2"/>
              </a:solidFill>
            </a:endParaRPr>
          </a:p>
        </p:txBody>
      </p:sp>
      <p:sp>
        <p:nvSpPr>
          <p:cNvPr id="12" name="Google Shape;77;p15">
            <a:extLst>
              <a:ext uri="{FF2B5EF4-FFF2-40B4-BE49-F238E27FC236}">
                <a16:creationId xmlns:a16="http://schemas.microsoft.com/office/drawing/2014/main" id="{A9073AD4-F668-C2AB-B121-62064E91A399}"/>
              </a:ext>
            </a:extLst>
          </p:cNvPr>
          <p:cNvSpPr txBox="1"/>
          <p:nvPr/>
        </p:nvSpPr>
        <p:spPr>
          <a:xfrm>
            <a:off x="6768640" y="3513470"/>
            <a:ext cx="3373844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r"/>
            <a:r>
              <a:rPr lang="en" sz="2800" dirty="0">
                <a:solidFill>
                  <a:schemeClr val="dk1"/>
                </a:solidFill>
              </a:rPr>
              <a:t>03.26.2026</a:t>
            </a:r>
            <a:endParaRPr sz="4400" dirty="0">
              <a:solidFill>
                <a:schemeClr val="dk2"/>
              </a:solidFill>
            </a:endParaRPr>
          </a:p>
        </p:txBody>
      </p:sp>
      <p:pic>
        <p:nvPicPr>
          <p:cNvPr id="14" name="Picture 2" descr="PDB-101: Molecule of the Month: DNA-Sequencing Nanopores">
            <a:extLst>
              <a:ext uri="{FF2B5EF4-FFF2-40B4-BE49-F238E27FC236}">
                <a16:creationId xmlns:a16="http://schemas.microsoft.com/office/drawing/2014/main" id="{7A2CC5E0-AADC-BECE-E624-378800CFE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280" y="5048371"/>
            <a:ext cx="1114238" cy="153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 Camera Icon - Free Download User Interface Icons | IconScout">
            <a:extLst>
              <a:ext uri="{FF2B5EF4-FFF2-40B4-BE49-F238E27FC236}">
                <a16:creationId xmlns:a16="http://schemas.microsoft.com/office/drawing/2014/main" id="{E08567CD-6B03-AD47-9958-2470E8A09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4890" y="6060844"/>
            <a:ext cx="864062" cy="86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Our Logo | Brand Center">
            <a:extLst>
              <a:ext uri="{FF2B5EF4-FFF2-40B4-BE49-F238E27FC236}">
                <a16:creationId xmlns:a16="http://schemas.microsoft.com/office/drawing/2014/main" id="{4F168CDA-A8F5-051F-E3C3-816EE141D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174" y="5556609"/>
            <a:ext cx="3981137" cy="1432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58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921DC49-A54D-E0B8-4899-C630D799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38E4A-A716-61E1-0AAE-E04A039643F4}"/>
              </a:ext>
            </a:extLst>
          </p:cNvPr>
          <p:cNvCxnSpPr/>
          <p:nvPr/>
        </p:nvCxnSpPr>
        <p:spPr>
          <a:xfrm>
            <a:off x="0" y="903249"/>
            <a:ext cx="12192000" cy="0"/>
          </a:xfrm>
          <a:prstGeom prst="line">
            <a:avLst/>
          </a:prstGeom>
          <a:ln w="38100">
            <a:solidFill>
              <a:srgbClr val="EA7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D7E7F5-B88C-C614-330F-BAEC4558FF36}"/>
              </a:ext>
            </a:extLst>
          </p:cNvPr>
          <p:cNvCxnSpPr/>
          <p:nvPr/>
        </p:nvCxnSpPr>
        <p:spPr>
          <a:xfrm>
            <a:off x="0" y="1044498"/>
            <a:ext cx="12192000" cy="0"/>
          </a:xfrm>
          <a:prstGeom prst="line">
            <a:avLst/>
          </a:prstGeom>
          <a:ln w="38100">
            <a:solidFill>
              <a:srgbClr val="EA7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585511C-720E-8443-4549-D62EC014898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3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Nanopore Sequencing in the Mason Lab!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DF89F-6937-7A4C-E082-F30500BF413D}"/>
              </a:ext>
            </a:extLst>
          </p:cNvPr>
          <p:cNvSpPr/>
          <p:nvPr/>
        </p:nvSpPr>
        <p:spPr>
          <a:xfrm>
            <a:off x="8744607" y="5857859"/>
            <a:ext cx="725213" cy="23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832CEC-6A52-E95C-5B4C-FAA06C3009A0}"/>
              </a:ext>
            </a:extLst>
          </p:cNvPr>
          <p:cNvSpPr/>
          <p:nvPr/>
        </p:nvSpPr>
        <p:spPr>
          <a:xfrm>
            <a:off x="8744607" y="5857859"/>
            <a:ext cx="620110" cy="1179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Free Camera Icon - Free Download User Interface Icons | IconScout">
            <a:extLst>
              <a:ext uri="{FF2B5EF4-FFF2-40B4-BE49-F238E27FC236}">
                <a16:creationId xmlns:a16="http://schemas.microsoft.com/office/drawing/2014/main" id="{A9136709-6624-9BDE-841E-5AAC3BB10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222" y="6304176"/>
            <a:ext cx="620729" cy="62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person sitting at a desk working on a computer&#10;&#10;AI-generated content may be incorrect.">
            <a:extLst>
              <a:ext uri="{FF2B5EF4-FFF2-40B4-BE49-F238E27FC236}">
                <a16:creationId xmlns:a16="http://schemas.microsoft.com/office/drawing/2014/main" id="{5128B50B-CC8D-22B4-89E5-391061561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523" y="1268388"/>
            <a:ext cx="7146387" cy="5346152"/>
          </a:xfrm>
          <a:prstGeom prst="rect">
            <a:avLst/>
          </a:prstGeom>
        </p:spPr>
      </p:pic>
      <p:pic>
        <p:nvPicPr>
          <p:cNvPr id="7" name="Picture 2" descr="PromethION 24 | Oxford Nanopore Technologies">
            <a:extLst>
              <a:ext uri="{FF2B5EF4-FFF2-40B4-BE49-F238E27FC236}">
                <a16:creationId xmlns:a16="http://schemas.microsoft.com/office/drawing/2014/main" id="{7486B423-687F-5F83-445B-3A8D4988F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48" y="3185540"/>
            <a:ext cx="4845128" cy="390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6CE0AB-3759-CE01-3D82-C6D3B6B13C5A}"/>
              </a:ext>
            </a:extLst>
          </p:cNvPr>
          <p:cNvSpPr txBox="1"/>
          <p:nvPr/>
        </p:nvSpPr>
        <p:spPr>
          <a:xfrm>
            <a:off x="464234" y="1561515"/>
            <a:ext cx="309187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One P24, </a:t>
            </a:r>
          </a:p>
          <a:p>
            <a:r>
              <a:rPr lang="en-US" sz="2800" dirty="0"/>
              <a:t>One </a:t>
            </a:r>
            <a:r>
              <a:rPr lang="en-US" sz="2800" dirty="0" err="1"/>
              <a:t>GridION</a:t>
            </a:r>
            <a:r>
              <a:rPr lang="en-US" sz="2800" dirty="0"/>
              <a:t>, </a:t>
            </a:r>
          </a:p>
          <a:p>
            <a:r>
              <a:rPr lang="en-US" sz="2800" dirty="0"/>
              <a:t>Multiple </a:t>
            </a:r>
            <a:r>
              <a:rPr lang="en-US" sz="2800" dirty="0" err="1"/>
              <a:t>MinIONs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~48 samples/week</a:t>
            </a:r>
          </a:p>
        </p:txBody>
      </p:sp>
    </p:spTree>
    <p:extLst>
      <p:ext uri="{BB962C8B-B14F-4D97-AF65-F5344CB8AC3E}">
        <p14:creationId xmlns:p14="http://schemas.microsoft.com/office/powerpoint/2010/main" val="387487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6B89067-2A65-8133-1652-D925C433B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E98CAC6-A2EC-5E15-147C-F045D78DAB2E}"/>
              </a:ext>
            </a:extLst>
          </p:cNvPr>
          <p:cNvCxnSpPr/>
          <p:nvPr/>
        </p:nvCxnSpPr>
        <p:spPr>
          <a:xfrm>
            <a:off x="0" y="903249"/>
            <a:ext cx="12192000" cy="0"/>
          </a:xfrm>
          <a:prstGeom prst="line">
            <a:avLst/>
          </a:prstGeom>
          <a:ln w="38100">
            <a:solidFill>
              <a:srgbClr val="EA7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94C18A-60E7-0341-5B66-462921DF6766}"/>
              </a:ext>
            </a:extLst>
          </p:cNvPr>
          <p:cNvCxnSpPr/>
          <p:nvPr/>
        </p:nvCxnSpPr>
        <p:spPr>
          <a:xfrm>
            <a:off x="0" y="1044498"/>
            <a:ext cx="12192000" cy="0"/>
          </a:xfrm>
          <a:prstGeom prst="line">
            <a:avLst/>
          </a:prstGeom>
          <a:ln w="38100">
            <a:solidFill>
              <a:srgbClr val="EA7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30157BD-DA57-D901-ECCF-960F35299D3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36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Nanopore Sequencing Measures DNA or RNA Electrical Signal Through a Pore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C6277D-2EC3-E4F1-8F51-17E57915A775}"/>
              </a:ext>
            </a:extLst>
          </p:cNvPr>
          <p:cNvSpPr/>
          <p:nvPr/>
        </p:nvSpPr>
        <p:spPr>
          <a:xfrm>
            <a:off x="8744607" y="5857859"/>
            <a:ext cx="725213" cy="23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D179B9-73B1-6C96-8014-474CD1DDB00F}"/>
              </a:ext>
            </a:extLst>
          </p:cNvPr>
          <p:cNvSpPr/>
          <p:nvPr/>
        </p:nvSpPr>
        <p:spPr>
          <a:xfrm>
            <a:off x="8744607" y="5857859"/>
            <a:ext cx="620110" cy="1179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ow nanopore sequencing works | Oxford Nanopore Technologies">
            <a:extLst>
              <a:ext uri="{FF2B5EF4-FFF2-40B4-BE49-F238E27FC236}">
                <a16:creationId xmlns:a16="http://schemas.microsoft.com/office/drawing/2014/main" id="{D0C38F54-ADED-F266-14E7-8C7F07531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58" y="1687553"/>
            <a:ext cx="8128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itHub - nanoporetech/kmer_models: Predictive kmer models for development  use">
            <a:extLst>
              <a:ext uri="{FF2B5EF4-FFF2-40B4-BE49-F238E27FC236}">
                <a16:creationId xmlns:a16="http://schemas.microsoft.com/office/drawing/2014/main" id="{6D3BFA01-0A55-2CD2-1341-5B5BC38E7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3364" y="1287921"/>
            <a:ext cx="3739353" cy="186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number and a number in a row&#10;&#10;Description automatically generated with medium confidence">
            <a:extLst>
              <a:ext uri="{FF2B5EF4-FFF2-40B4-BE49-F238E27FC236}">
                <a16:creationId xmlns:a16="http://schemas.microsoft.com/office/drawing/2014/main" id="{43BE1A77-3889-9751-B93D-F3398EDC6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5212" y="3290128"/>
            <a:ext cx="2775656" cy="3200401"/>
          </a:xfrm>
          <a:prstGeom prst="rect">
            <a:avLst/>
          </a:prstGeom>
        </p:spPr>
      </p:pic>
      <p:pic>
        <p:nvPicPr>
          <p:cNvPr id="2" name="Picture 4" descr="Free Camera Icon - Free Download User Interface Icons | IconScout">
            <a:extLst>
              <a:ext uri="{FF2B5EF4-FFF2-40B4-BE49-F238E27FC236}">
                <a16:creationId xmlns:a16="http://schemas.microsoft.com/office/drawing/2014/main" id="{FB3B534B-D5CA-CD9A-934E-25AF6B6CB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222" y="6304176"/>
            <a:ext cx="620729" cy="620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266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C6F1-0BA8-0072-8F96-595DD52B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A90BC-1A0C-9AD0-6F0E-D410E9E9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713678"/>
          </a:xfrm>
        </p:spPr>
        <p:txBody>
          <a:bodyPr>
            <a:normAutofit/>
          </a:bodyPr>
          <a:lstStyle/>
          <a:p>
            <a:r>
              <a:rPr lang="en-US" sz="2400" b="1" dirty="0"/>
              <a:t>Distinctive Current Features Allow for Measurement of Bases and Poly(A) Tails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1F6CA6-501C-1FCE-FE98-7C006B2579B9}"/>
              </a:ext>
            </a:extLst>
          </p:cNvPr>
          <p:cNvCxnSpPr/>
          <p:nvPr/>
        </p:nvCxnSpPr>
        <p:spPr>
          <a:xfrm>
            <a:off x="0" y="903249"/>
            <a:ext cx="12192000" cy="0"/>
          </a:xfrm>
          <a:prstGeom prst="line">
            <a:avLst/>
          </a:prstGeom>
          <a:ln w="38100">
            <a:solidFill>
              <a:srgbClr val="EA7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Shape 2">
            <a:extLst>
              <a:ext uri="{FF2B5EF4-FFF2-40B4-BE49-F238E27FC236}">
                <a16:creationId xmlns:a16="http://schemas.microsoft.com/office/drawing/2014/main" id="{599BB6A2-1D3F-B210-9919-5E42EFDD12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556937" y="6386891"/>
            <a:ext cx="4275083" cy="471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Source: Oxford Nanopore Technologies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AF9053-BE9E-BA81-AA0A-20A51B32B816}"/>
              </a:ext>
            </a:extLst>
          </p:cNvPr>
          <p:cNvCxnSpPr/>
          <p:nvPr/>
        </p:nvCxnSpPr>
        <p:spPr>
          <a:xfrm>
            <a:off x="0" y="1044498"/>
            <a:ext cx="12192000" cy="0"/>
          </a:xfrm>
          <a:prstGeom prst="line">
            <a:avLst/>
          </a:prstGeom>
          <a:ln w="38100">
            <a:solidFill>
              <a:srgbClr val="EA71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Free Camera Icon - Free Download User Interface Icons | IconScout">
            <a:extLst>
              <a:ext uri="{FF2B5EF4-FFF2-40B4-BE49-F238E27FC236}">
                <a16:creationId xmlns:a16="http://schemas.microsoft.com/office/drawing/2014/main" id="{2EADACEB-F794-C3D6-834E-1798DDD79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7842" y="6453796"/>
            <a:ext cx="471109" cy="471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BE5861-9E06-6271-C41D-06276F295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84" y="1523898"/>
            <a:ext cx="11909554" cy="421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08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Macintosh PowerPoint</Application>
  <PresentationFormat>Widescreen</PresentationFormat>
  <Paragraphs>15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Distinctive Current Features Allow for Measurement of Bases and Poly(A) 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Theo Nelson</dc:creator>
  <cp:lastModifiedBy>Theo Nelson</cp:lastModifiedBy>
  <cp:revision>1</cp:revision>
  <dcterms:created xsi:type="dcterms:W3CDTF">2026-03-26T18:33:47Z</dcterms:created>
  <dcterms:modified xsi:type="dcterms:W3CDTF">2026-03-26T18:34:22Z</dcterms:modified>
</cp:coreProperties>
</file>